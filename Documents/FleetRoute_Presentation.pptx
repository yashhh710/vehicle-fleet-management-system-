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9" r:id="rId9"/>
    <p:sldId id="260" r:id="rId10"/>
    <p:sldId id="261" r:id="rId11"/>
    <p:sldId id="262" r:id="rId12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ff573c996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ff573c99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2.jp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2.jp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2.jp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FleetRoute — Smart Vehicle Fleet Management System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32">
                <a:solidFill>
                  <a:schemeClr val="lt1"/>
                </a:solidFill>
              </a:rPr>
              <a:t>B</a:t>
            </a:r>
            <a:r>
              <a:rPr b="1" lang="en-GB" sz="832">
                <a:solidFill>
                  <a:schemeClr val="lt1"/>
                </a:solidFill>
              </a:rPr>
              <a:t>y Yash Tambade | B.Tech Computer Science | DSA Final Project</a:t>
            </a:r>
            <a:endParaRPr b="1" sz="832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Index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Problem Statement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Your solution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Working (Method/</a:t>
            </a:r>
            <a:r>
              <a:rPr lang="en-GB"/>
              <a:t>Mind map</a:t>
            </a:r>
            <a:r>
              <a:rPr lang="en-GB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Conclusion.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000"/>
              <a:t>Note: Slides (excluding Thank-you and Introduction slide) should not be more than 4.</a:t>
            </a:r>
            <a:endParaRPr sz="1000"/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68" name="Google Shape;68;p1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Problem Statement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400" name="Header400"/>
          <p:cNvSpPr txBox="1"/>
          <p:nvPr/>
        </p:nvSpPr>
        <p:spPr>
          <a:xfrm>
            <a:off x="311700" y="1050000"/>
            <a:ext cx="85206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lIns="0" rIns="0" tIns="0" b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A81B50"/>
                </a:solidFill>
              </a:rPr>
              <a:t>The Challenge</a:t>
            </a:r>
            <a:endParaRPr b="1" sz="1300"/>
          </a:p>
        </p:txBody>
      </p:sp>
      <p:sp>
        <p:nvSpPr>
          <p:cNvPr id="401" name="Challenge"/>
          <p:cNvSpPr txBox="1"/>
          <p:nvPr/>
        </p:nvSpPr>
        <p:spPr>
          <a:xfrm>
            <a:off x="311700" y="1430000"/>
            <a:ext cx="8520600" cy="950000"/>
          </a:xfrm>
          <a:prstGeom prst="rect">
            <a:avLst/>
          </a:prstGeom>
          <a:noFill/>
          <a:ln>
            <a:noFill/>
          </a:ln>
        </p:spPr>
        <p:txBody>
          <a:bodyPr anchorCtr="0" anchor="t" lIns="0" rIns="0" tIns="0" bIns="0" wrap="square">
            <a:noAutofit/>
          </a:bodyPr>
          <a:lstStyle/>
          <a:p>
            <a:pPr algn="l">
              <a:buNone/>
            </a:pPr>
            <a:r>
              <a:rPr lang="en-GB" sz="1150"/>
              <a:t>Urban transportation networks must dispatch vehicles to passengers across a city while minimising travel distance and managing trip priorities. Manual assignment is slow, error-prone, and does not scale as fleet size and demand grow.</a:t>
            </a:r>
            <a:endParaRPr sz="1150"/>
          </a:p>
        </p:txBody>
      </p:sp>
      <p:sp>
        <p:nvSpPr>
          <p:cNvPr id="402" name="Header402"/>
          <p:cNvSpPr txBox="1"/>
          <p:nvPr/>
        </p:nvSpPr>
        <p:spPr>
          <a:xfrm>
            <a:off x="311700" y="2450000"/>
            <a:ext cx="85206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lIns="0" rIns="0" tIns="0" b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A81B50"/>
                </a:solidFill>
              </a:rPr>
              <a:t>The System Must</a:t>
            </a:r>
            <a:endParaRPr b="1" sz="1300"/>
          </a:p>
        </p:txBody>
      </p:sp>
      <p:sp>
        <p:nvSpPr>
          <p:cNvPr id="403" name="Icon403"/>
          <p:cNvSpPr/>
          <p:nvPr/>
        </p:nvSpPr>
        <p:spPr>
          <a:xfrm>
            <a:off x="311700" y="2850000"/>
            <a:ext cx="380000" cy="380000"/>
          </a:xfrm>
          <a:prstGeom prst="ellipse">
            <a:avLst/>
          </a:prstGeom>
          <a:solidFill>
            <a:srgbClr val="A81B50"/>
          </a:solidFill>
          <a:ln>
            <a:noFill/>
          </a:ln>
        </p:spPr>
        <p:txBody>
          <a:bodyPr anchorCtr="1" anchor="ctr" lIns="0" rIns="0" tIns="0" bIns="0" wrap="square">
            <a:noAutofit/>
          </a:bodyPr>
          <a:lstStyle/>
          <a:p>
            <a:pPr algn="ctr">
              <a:buNone/>
            </a:pPr>
            <a:r>
              <a:rPr b="1" lang="en-GB" sz="1200">
                <a:solidFill>
                  <a:srgbClr val="FFFFFF"/>
                </a:solidFill>
              </a:rPr>
              <a:t>V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04" name="ItemText404"/>
          <p:cNvSpPr txBox="1"/>
          <p:nvPr/>
        </p:nvSpPr>
        <p:spPr>
          <a:xfrm>
            <a:off x="821700" y="2830000"/>
            <a:ext cx="80106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lIns="0" rIns="0" tIns="0" bIns="0" wrap="square">
            <a:noAutofit/>
          </a:bodyPr>
          <a:lstStyle/>
          <a:p>
            <a:pPr algn="l">
              <a:buNone/>
            </a:pPr>
            <a:r>
              <a:rPr lang="en-GB" sz="1150"/>
              <a:t>Identify the nearest available vehicle to a pickup location</a:t>
            </a:r>
            <a:endParaRPr sz="1150"/>
          </a:p>
        </p:txBody>
      </p:sp>
      <p:sp>
        <p:nvSpPr>
          <p:cNvPr id="405" name="Icon405"/>
          <p:cNvSpPr/>
          <p:nvPr/>
        </p:nvSpPr>
        <p:spPr>
          <a:xfrm>
            <a:off x="311700" y="3270000"/>
            <a:ext cx="380000" cy="380000"/>
          </a:xfrm>
          <a:prstGeom prst="ellipse">
            <a:avLst/>
          </a:prstGeom>
          <a:solidFill>
            <a:srgbClr val="A81B50"/>
          </a:solidFill>
          <a:ln>
            <a:noFill/>
          </a:ln>
        </p:spPr>
        <p:txBody>
          <a:bodyPr anchorCtr="1" anchor="ctr" lIns="0" rIns="0" tIns="0" bIns="0" wrap="square">
            <a:noAutofit/>
          </a:bodyPr>
          <a:lstStyle/>
          <a:p>
            <a:pPr algn="ctr">
              <a:buNone/>
            </a:pPr>
            <a:r>
              <a:rPr b="1" lang="en-GB" sz="1200">
                <a:solidFill>
                  <a:srgbClr val="FFFFFF"/>
                </a:solidFill>
              </a:rPr>
              <a:t>D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06" name="ItemText406"/>
          <p:cNvSpPr txBox="1"/>
          <p:nvPr/>
        </p:nvSpPr>
        <p:spPr>
          <a:xfrm>
            <a:off x="821700" y="3250000"/>
            <a:ext cx="80106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lIns="0" rIns="0" tIns="0" bIns="0" wrap="square">
            <a:noAutofit/>
          </a:bodyPr>
          <a:lstStyle/>
          <a:p>
            <a:pPr algn="l">
              <a:buNone/>
            </a:pPr>
            <a:r>
              <a:rPr lang="en-GB" sz="1150"/>
              <a:t>Dispatch it via the shortest path using Dijkstra's Algorithm</a:t>
            </a:r>
            <a:endParaRPr sz="1150"/>
          </a:p>
        </p:txBody>
      </p:sp>
      <p:sp>
        <p:nvSpPr>
          <p:cNvPr id="407" name="Icon407"/>
          <p:cNvSpPr/>
          <p:nvPr/>
        </p:nvSpPr>
        <p:spPr>
          <a:xfrm>
            <a:off x="311700" y="3690000"/>
            <a:ext cx="380000" cy="380000"/>
          </a:xfrm>
          <a:prstGeom prst="ellipse">
            <a:avLst/>
          </a:prstGeom>
          <a:solidFill>
            <a:srgbClr val="A81B50"/>
          </a:solidFill>
          <a:ln>
            <a:noFill/>
          </a:ln>
        </p:spPr>
        <p:txBody>
          <a:bodyPr anchorCtr="1" anchor="ctr" lIns="0" rIns="0" tIns="0" bIns="0" wrap="square">
            <a:noAutofit/>
          </a:bodyPr>
          <a:lstStyle/>
          <a:p>
            <a:pPr algn="ctr">
              <a:buNone/>
            </a:pPr>
            <a:r>
              <a:rPr b="1" lang="en-GB" sz="1200">
                <a:solidFill>
                  <a:srgbClr val="FFFFFF"/>
                </a:solidFill>
              </a:rPr>
              <a:t>P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08" name="ItemText408"/>
          <p:cNvSpPr txBox="1"/>
          <p:nvPr/>
        </p:nvSpPr>
        <p:spPr>
          <a:xfrm>
            <a:off x="821700" y="3670000"/>
            <a:ext cx="80106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lIns="0" rIns="0" tIns="0" bIns="0" wrap="square">
            <a:noAutofit/>
          </a:bodyPr>
          <a:lstStyle/>
          <a:p>
            <a:pPr algn="l">
              <a:buNone/>
            </a:pPr>
            <a:r>
              <a:rPr lang="en-GB" sz="1150"/>
              <a:t>Always serve the highest-priority passenger first</a:t>
            </a:r>
            <a:endParaRPr sz="1150"/>
          </a:p>
        </p:txBody>
      </p:sp>
      <p:sp>
        <p:nvSpPr>
          <p:cNvPr id="409" name="Icon409"/>
          <p:cNvSpPr/>
          <p:nvPr/>
        </p:nvSpPr>
        <p:spPr>
          <a:xfrm>
            <a:off x="311700" y="4110000"/>
            <a:ext cx="380000" cy="380000"/>
          </a:xfrm>
          <a:prstGeom prst="ellipse">
            <a:avLst/>
          </a:prstGeom>
          <a:solidFill>
            <a:srgbClr val="A81B50"/>
          </a:solidFill>
          <a:ln>
            <a:noFill/>
          </a:ln>
        </p:spPr>
        <p:txBody>
          <a:bodyPr anchorCtr="1" anchor="ctr" lIns="0" rIns="0" tIns="0" bIns="0" wrap="square">
            <a:noAutofit/>
          </a:bodyPr>
          <a:lstStyle/>
          <a:p>
            <a:pPr algn="ctr">
              <a:buNone/>
            </a:pPr>
            <a:r>
              <a:rPr b="1" lang="en-GB" sz="1200">
                <a:solidFill>
                  <a:srgbClr val="FFFFFF"/>
                </a:solidFill>
              </a:rPr>
              <a:t>U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10" name="ItemText410"/>
          <p:cNvSpPr txBox="1"/>
          <p:nvPr/>
        </p:nvSpPr>
        <p:spPr>
          <a:xfrm>
            <a:off x="821700" y="4090000"/>
            <a:ext cx="80106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lIns="0" rIns="0" tIns="0" bIns="0" wrap="square">
            <a:noAutofit/>
          </a:bodyPr>
          <a:lstStyle/>
          <a:p>
            <a:pPr algn="l">
              <a:buNone/>
            </a:pPr>
            <a:r>
              <a:rPr lang="en-GB" sz="1150"/>
              <a:t>Allow the dispatcher to undo (rollback) the last dispatch</a:t>
            </a:r>
            <a:endParaRPr sz="1150"/>
          </a:p>
        </p:txBody>
      </p:sp>
      <p:sp>
        <p:nvSpPr>
          <p:cNvPr id="411" name="Icon411"/>
          <p:cNvSpPr/>
          <p:nvPr/>
        </p:nvSpPr>
        <p:spPr>
          <a:xfrm>
            <a:off x="311700" y="4530000"/>
            <a:ext cx="380000" cy="380000"/>
          </a:xfrm>
          <a:prstGeom prst="ellipse">
            <a:avLst/>
          </a:prstGeom>
          <a:solidFill>
            <a:srgbClr val="A81B50"/>
          </a:solidFill>
          <a:ln>
            <a:noFill/>
          </a:ln>
        </p:spPr>
        <p:txBody>
          <a:bodyPr anchorCtr="1" anchor="ctr" lIns="0" rIns="0" tIns="0" bIns="0" wrap="square">
            <a:noAutofit/>
          </a:bodyPr>
          <a:lstStyle/>
          <a:p>
            <a:pPr algn="ctr">
              <a:buNone/>
            </a:pPr>
            <a:r>
              <a:rPr b="1" lang="en-GB" sz="1200">
                <a:solidFill>
                  <a:srgbClr val="FFFFFF"/>
                </a:solidFill>
              </a:rPr>
              <a:t>F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12" name="ItemText412"/>
          <p:cNvSpPr txBox="1"/>
          <p:nvPr/>
        </p:nvSpPr>
        <p:spPr>
          <a:xfrm>
            <a:off x="821700" y="4510000"/>
            <a:ext cx="80106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lIns="0" rIns="0" tIns="0" bIns="0" wrap="square">
            <a:noAutofit/>
          </a:bodyPr>
          <a:lstStyle/>
          <a:p>
            <a:pPr algn="l">
              <a:buNone/>
            </a:pPr>
            <a:r>
              <a:rPr lang="en-GB" sz="1150"/>
              <a:t>Persist all fleet and trip data across sessions</a:t>
            </a:r>
            <a:endParaRPr sz="1150"/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Your Solution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100" name="Icon100"/>
          <p:cNvSpPr/>
          <p:nvPr/>
        </p:nvSpPr>
        <p:spPr>
          <a:xfrm>
            <a:off x="311700" y="1183750"/>
            <a:ext cx="450000" cy="450000"/>
          </a:xfrm>
          <a:prstGeom prst="ellipse">
            <a:avLst/>
          </a:prstGeom>
          <a:solidFill>
            <a:srgbClr val="A81B50"/>
          </a:solidFill>
          <a:ln>
            <a:noFill/>
          </a:ln>
        </p:spPr>
        <p:txBody>
          <a:bodyPr anchorCtr="1" anchor="ctr" lIns="0" rIns="0" tIns="0" bIns="0" wrap="square">
            <a:noAutofit/>
          </a:bodyPr>
          <a:lstStyle/>
          <a:p>
            <a:pPr algn="ctr">
              <a:buNone/>
            </a:pPr>
            <a:r>
              <a:rPr b="1" lang="en-GB" sz="1400">
                <a:solidFill>
                  <a:srgbClr val="FFFFFF"/>
                </a:solidFill>
              </a:rPr>
              <a:t>G</a:t>
            </a:r>
            <a:endParaRPr b="1" sz="1400">
              <a:solidFill>
                <a:srgbClr val="FFFFFF"/>
              </a:solidFill>
            </a:endParaRPr>
          </a:p>
        </p:txBody>
      </p:sp>
      <p:sp>
        <p:nvSpPr>
          <p:cNvPr id="101" name="Text101"/>
          <p:cNvSpPr txBox="1"/>
          <p:nvPr/>
        </p:nvSpPr>
        <p:spPr>
          <a:xfrm>
            <a:off x="891700" y="1080000"/>
            <a:ext cx="3580300" cy="657500"/>
          </a:xfrm>
          <a:prstGeom prst="rect">
            <a:avLst/>
          </a:prstGeom>
          <a:noFill/>
          <a:ln>
            <a:noFill/>
          </a:ln>
        </p:spPr>
        <p:txBody>
          <a:bodyPr anchorCtr="0" anchor="ctr" lIns="0" rIns="0" tIns="0" b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>
                <a:solidFill>
                  <a:srgbClr val="A81B50"/>
                </a:solidFill>
              </a:rPr>
              <a:t>City Graph (Adjacency List)</a:t>
            </a:r>
            <a:endParaRPr b="1" sz="1150"/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900"/>
              <a:t>Roads between cities as a weighted graph</a:t>
            </a:r>
            <a:endParaRPr sz="900"/>
          </a:p>
        </p:txBody>
      </p:sp>
      <p:sp>
        <p:nvSpPr>
          <p:cNvPr id="102" name="Icon102"/>
          <p:cNvSpPr/>
          <p:nvPr/>
        </p:nvSpPr>
        <p:spPr>
          <a:xfrm>
            <a:off x="4672000" y="1183750"/>
            <a:ext cx="450000" cy="450000"/>
          </a:xfrm>
          <a:prstGeom prst="ellipse">
            <a:avLst/>
          </a:prstGeom>
          <a:solidFill>
            <a:srgbClr val="A81B50"/>
          </a:solidFill>
          <a:ln>
            <a:noFill/>
          </a:ln>
        </p:spPr>
        <p:txBody>
          <a:bodyPr anchorCtr="1" anchor="ctr" lIns="0" rIns="0" tIns="0" bIns="0" wrap="square">
            <a:noAutofit/>
          </a:bodyPr>
          <a:lstStyle/>
          <a:p>
            <a:pPr algn="ctr">
              <a:buNone/>
            </a:pPr>
            <a:r>
              <a:rPr b="1" lang="en-GB" sz="1400">
                <a:solidFill>
                  <a:srgbClr val="FFFFFF"/>
                </a:solidFill>
              </a:rPr>
              <a:t>D</a:t>
            </a:r>
            <a:endParaRPr b="1" sz="1400">
              <a:solidFill>
                <a:srgbClr val="FFFFFF"/>
              </a:solidFill>
            </a:endParaRPr>
          </a:p>
        </p:txBody>
      </p:sp>
      <p:sp>
        <p:nvSpPr>
          <p:cNvPr id="103" name="Text103"/>
          <p:cNvSpPr txBox="1"/>
          <p:nvPr/>
        </p:nvSpPr>
        <p:spPr>
          <a:xfrm>
            <a:off x="5252000" y="1080000"/>
            <a:ext cx="3580300" cy="657500"/>
          </a:xfrm>
          <a:prstGeom prst="rect">
            <a:avLst/>
          </a:prstGeom>
          <a:noFill/>
          <a:ln>
            <a:noFill/>
          </a:ln>
        </p:spPr>
        <p:txBody>
          <a:bodyPr anchorCtr="0" anchor="ctr" lIns="0" rIns="0" tIns="0" b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>
                <a:solidFill>
                  <a:srgbClr val="A81B50"/>
                </a:solidFill>
              </a:rPr>
              <a:t>Dijkstra + Min-Heap</a:t>
            </a:r>
            <a:endParaRPr b="1" sz="1150"/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900"/>
              <a:t>Finds nearest vehicle &amp; shortest route</a:t>
            </a:r>
            <a:endParaRPr sz="900"/>
          </a:p>
        </p:txBody>
      </p:sp>
      <p:sp>
        <p:nvSpPr>
          <p:cNvPr id="104" name="Icon104"/>
          <p:cNvSpPr/>
          <p:nvPr/>
        </p:nvSpPr>
        <p:spPr>
          <a:xfrm>
            <a:off x="311700" y="1921250"/>
            <a:ext cx="450000" cy="450000"/>
          </a:xfrm>
          <a:prstGeom prst="ellipse">
            <a:avLst/>
          </a:prstGeom>
          <a:solidFill>
            <a:srgbClr val="A81B50"/>
          </a:solidFill>
          <a:ln>
            <a:noFill/>
          </a:ln>
        </p:spPr>
        <p:txBody>
          <a:bodyPr anchorCtr="1" anchor="ctr" lIns="0" rIns="0" tIns="0" bIns="0" wrap="square">
            <a:noAutofit/>
          </a:bodyPr>
          <a:lstStyle/>
          <a:p>
            <a:pPr algn="ctr">
              <a:buNone/>
            </a:pPr>
            <a:r>
              <a:rPr b="1" lang="en-GB" sz="1400">
                <a:solidFill>
                  <a:srgbClr val="FFFFFF"/>
                </a:solidFill>
              </a:rPr>
              <a:t>Q</a:t>
            </a:r>
            <a:endParaRPr b="1" sz="1400">
              <a:solidFill>
                <a:srgbClr val="FFFFFF"/>
              </a:solidFill>
            </a:endParaRPr>
          </a:p>
        </p:txBody>
      </p:sp>
      <p:sp>
        <p:nvSpPr>
          <p:cNvPr id="105" name="Text105"/>
          <p:cNvSpPr txBox="1"/>
          <p:nvPr/>
        </p:nvSpPr>
        <p:spPr>
          <a:xfrm>
            <a:off x="891700" y="1817500"/>
            <a:ext cx="3580300" cy="657500"/>
          </a:xfrm>
          <a:prstGeom prst="rect">
            <a:avLst/>
          </a:prstGeom>
          <a:noFill/>
          <a:ln>
            <a:noFill/>
          </a:ln>
        </p:spPr>
        <p:txBody>
          <a:bodyPr anchorCtr="0" anchor="ctr" lIns="0" rIns="0" tIns="0" b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>
                <a:solidFill>
                  <a:srgbClr val="A81B50"/>
                </a:solidFill>
              </a:rPr>
              <a:t>Priority Queue (Min-Heap)</a:t>
            </a:r>
            <a:endParaRPr b="1" sz="1150"/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900"/>
              <a:t>Dispatches highest-priority trip first</a:t>
            </a:r>
            <a:endParaRPr sz="900"/>
          </a:p>
        </p:txBody>
      </p:sp>
      <p:sp>
        <p:nvSpPr>
          <p:cNvPr id="106" name="Icon106"/>
          <p:cNvSpPr/>
          <p:nvPr/>
        </p:nvSpPr>
        <p:spPr>
          <a:xfrm>
            <a:off x="4672000" y="1921250"/>
            <a:ext cx="450000" cy="450000"/>
          </a:xfrm>
          <a:prstGeom prst="ellipse">
            <a:avLst/>
          </a:prstGeom>
          <a:solidFill>
            <a:srgbClr val="A81B50"/>
          </a:solidFill>
          <a:ln>
            <a:noFill/>
          </a:ln>
        </p:spPr>
        <p:txBody>
          <a:bodyPr anchorCtr="1" anchor="ctr" lIns="0" rIns="0" tIns="0" bIns="0" wrap="square">
            <a:noAutofit/>
          </a:bodyPr>
          <a:lstStyle/>
          <a:p>
            <a:pPr algn="ctr">
              <a:buNone/>
            </a:pPr>
            <a:r>
              <a:rPr b="1" lang="en-GB" sz="1400">
                <a:solidFill>
                  <a:srgbClr val="FFFFFF"/>
                </a:solidFill>
              </a:rPr>
              <a:t>U</a:t>
            </a:r>
            <a:endParaRPr b="1" sz="1400">
              <a:solidFill>
                <a:srgbClr val="FFFFFF"/>
              </a:solidFill>
            </a:endParaRPr>
          </a:p>
        </p:txBody>
      </p:sp>
      <p:sp>
        <p:nvSpPr>
          <p:cNvPr id="107" name="Text107"/>
          <p:cNvSpPr txBox="1"/>
          <p:nvPr/>
        </p:nvSpPr>
        <p:spPr>
          <a:xfrm>
            <a:off x="5252000" y="1817500"/>
            <a:ext cx="3580300" cy="657500"/>
          </a:xfrm>
          <a:prstGeom prst="rect">
            <a:avLst/>
          </a:prstGeom>
          <a:noFill/>
          <a:ln>
            <a:noFill/>
          </a:ln>
        </p:spPr>
        <p:txBody>
          <a:bodyPr anchorCtr="0" anchor="ctr" lIns="0" rIns="0" tIns="0" b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>
                <a:solidFill>
                  <a:srgbClr val="A81B50"/>
                </a:solidFill>
              </a:rPr>
              <a:t>Stack (Rollback)</a:t>
            </a:r>
            <a:endParaRPr b="1" sz="1150"/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900"/>
              <a:t>Undoes last dispatch, restores state</a:t>
            </a:r>
            <a:endParaRPr sz="900"/>
          </a:p>
        </p:txBody>
      </p:sp>
      <p:sp>
        <p:nvSpPr>
          <p:cNvPr id="108" name="Icon108"/>
          <p:cNvSpPr/>
          <p:nvPr/>
        </p:nvSpPr>
        <p:spPr>
          <a:xfrm>
            <a:off x="311700" y="2658750"/>
            <a:ext cx="450000" cy="450000"/>
          </a:xfrm>
          <a:prstGeom prst="ellipse">
            <a:avLst/>
          </a:prstGeom>
          <a:solidFill>
            <a:srgbClr val="A81B50"/>
          </a:solidFill>
          <a:ln>
            <a:noFill/>
          </a:ln>
        </p:spPr>
        <p:txBody>
          <a:bodyPr anchorCtr="1" anchor="ctr" lIns="0" rIns="0" tIns="0" bIns="0" wrap="square">
            <a:noAutofit/>
          </a:bodyPr>
          <a:lstStyle/>
          <a:p>
            <a:pPr algn="ctr">
              <a:buNone/>
            </a:pPr>
            <a:r>
              <a:rPr b="1" lang="en-GB" sz="1400">
                <a:solidFill>
                  <a:srgbClr val="FFFFFF"/>
                </a:solidFill>
              </a:rPr>
              <a:t>#</a:t>
            </a:r>
            <a:endParaRPr b="1" sz="1400">
              <a:solidFill>
                <a:srgbClr val="FFFFFF"/>
              </a:solidFill>
            </a:endParaRPr>
          </a:p>
        </p:txBody>
      </p:sp>
      <p:sp>
        <p:nvSpPr>
          <p:cNvPr id="109" name="Text109"/>
          <p:cNvSpPr txBox="1"/>
          <p:nvPr/>
        </p:nvSpPr>
        <p:spPr>
          <a:xfrm>
            <a:off x="891700" y="2555000"/>
            <a:ext cx="3580300" cy="657500"/>
          </a:xfrm>
          <a:prstGeom prst="rect">
            <a:avLst/>
          </a:prstGeom>
          <a:noFill/>
          <a:ln>
            <a:noFill/>
          </a:ln>
        </p:spPr>
        <p:txBody>
          <a:bodyPr anchorCtr="0" anchor="ctr" lIns="0" rIns="0" tIns="0" b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>
                <a:solidFill>
                  <a:srgbClr val="A81B50"/>
                </a:solidFill>
              </a:rPr>
              <a:t>Hash Map</a:t>
            </a:r>
            <a:endParaRPr b="1" sz="1150"/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900"/>
              <a:t>O(1) vehicle lookup by ID</a:t>
            </a:r>
            <a:endParaRPr sz="900"/>
          </a:p>
        </p:txBody>
      </p:sp>
      <p:sp>
        <p:nvSpPr>
          <p:cNvPr id="110" name="Icon110"/>
          <p:cNvSpPr/>
          <p:nvPr/>
        </p:nvSpPr>
        <p:spPr>
          <a:xfrm>
            <a:off x="4672000" y="2658750"/>
            <a:ext cx="450000" cy="450000"/>
          </a:xfrm>
          <a:prstGeom prst="ellipse">
            <a:avLst/>
          </a:prstGeom>
          <a:solidFill>
            <a:srgbClr val="A81B50"/>
          </a:solidFill>
          <a:ln>
            <a:noFill/>
          </a:ln>
        </p:spPr>
        <p:txBody>
          <a:bodyPr anchorCtr="1" anchor="ctr" lIns="0" rIns="0" tIns="0" bIns="0" wrap="square">
            <a:noAutofit/>
          </a:bodyPr>
          <a:lstStyle/>
          <a:p>
            <a:pPr algn="ctr">
              <a:buNone/>
            </a:pPr>
            <a:r>
              <a:rPr b="1" lang="en-GB" sz="1400">
                <a:solidFill>
                  <a:srgbClr val="FFFFFF"/>
                </a:solidFill>
              </a:rPr>
              <a:t>S</a:t>
            </a:r>
            <a:endParaRPr b="1" sz="1400">
              <a:solidFill>
                <a:srgbClr val="FFFFFF"/>
              </a:solidFill>
            </a:endParaRPr>
          </a:p>
        </p:txBody>
      </p:sp>
      <p:sp>
        <p:nvSpPr>
          <p:cNvPr id="111" name="Text111"/>
          <p:cNvSpPr txBox="1"/>
          <p:nvPr/>
        </p:nvSpPr>
        <p:spPr>
          <a:xfrm>
            <a:off x="5252000" y="2555000"/>
            <a:ext cx="3580300" cy="657500"/>
          </a:xfrm>
          <a:prstGeom prst="rect">
            <a:avLst/>
          </a:prstGeom>
          <a:noFill/>
          <a:ln>
            <a:noFill/>
          </a:ln>
        </p:spPr>
        <p:txBody>
          <a:bodyPr anchorCtr="0" anchor="ctr" lIns="0" rIns="0" tIns="0" b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>
                <a:solidFill>
                  <a:srgbClr val="A81B50"/>
                </a:solidFill>
              </a:rPr>
              <a:t>Sort + Binary Search</a:t>
            </a:r>
            <a:endParaRPr b="1" sz="1150"/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900"/>
              <a:t>Sorted display &amp; fast ID search</a:t>
            </a:r>
            <a:endParaRPr sz="900"/>
          </a:p>
        </p:txBody>
      </p:sp>
      <p:sp>
        <p:nvSpPr>
          <p:cNvPr id="112" name="Icon112"/>
          <p:cNvSpPr/>
          <p:nvPr/>
        </p:nvSpPr>
        <p:spPr>
          <a:xfrm>
            <a:off x="311700" y="3396250"/>
            <a:ext cx="450000" cy="450000"/>
          </a:xfrm>
          <a:prstGeom prst="ellipse">
            <a:avLst/>
          </a:prstGeom>
          <a:solidFill>
            <a:srgbClr val="A81B50"/>
          </a:solidFill>
          <a:ln>
            <a:noFill/>
          </a:ln>
        </p:spPr>
        <p:txBody>
          <a:bodyPr anchorCtr="1" anchor="ctr" lIns="0" rIns="0" tIns="0" bIns="0" wrap="square">
            <a:noAutofit/>
          </a:bodyPr>
          <a:lstStyle/>
          <a:p>
            <a:pPr algn="ctr">
              <a:buNone/>
            </a:pPr>
            <a:r>
              <a:rPr b="1" lang="en-GB" sz="1400">
                <a:solidFill>
                  <a:srgbClr val="FFFFFF"/>
                </a:solidFill>
              </a:rPr>
              <a:t>F</a:t>
            </a:r>
            <a:endParaRPr b="1" sz="1400">
              <a:solidFill>
                <a:srgbClr val="FFFFFF"/>
              </a:solidFill>
            </a:endParaRPr>
          </a:p>
        </p:txBody>
      </p:sp>
      <p:sp>
        <p:nvSpPr>
          <p:cNvPr id="113" name="Text113"/>
          <p:cNvSpPr txBox="1"/>
          <p:nvPr/>
        </p:nvSpPr>
        <p:spPr>
          <a:xfrm>
            <a:off x="891700" y="3292500"/>
            <a:ext cx="3580300" cy="657500"/>
          </a:xfrm>
          <a:prstGeom prst="rect">
            <a:avLst/>
          </a:prstGeom>
          <a:noFill/>
          <a:ln>
            <a:noFill/>
          </a:ln>
        </p:spPr>
        <p:txBody>
          <a:bodyPr anchorCtr="0" anchor="ctr" lIns="0" rIns="0" tIns="0" b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>
                <a:solidFill>
                  <a:srgbClr val="A81B50"/>
                </a:solidFill>
              </a:rPr>
              <a:t>File I/O</a:t>
            </a:r>
            <a:endParaRPr b="1" sz="1150"/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900"/>
              <a:t>Persists fleet &amp; trip state (data.txt)</a:t>
            </a:r>
            <a:endParaRPr sz="900"/>
          </a:p>
        </p:txBody>
      </p:sp>
      <p:sp>
        <p:nvSpPr>
          <p:cNvPr id="114" name="StatBox"/>
          <p:cNvSpPr/>
          <p:nvPr/>
        </p:nvSpPr>
        <p:spPr>
          <a:xfrm>
            <a:off x="4672000" y="3292500"/>
            <a:ext cx="4160300" cy="657500"/>
          </a:xfrm>
          <a:prstGeom prst="roundRect">
            <a:avLst>
              <a:gd name="adj" fmla="val 10000"/>
            </a:avLst>
          </a:prstGeom>
          <a:solidFill>
            <a:srgbClr val="A81B50"/>
          </a:solidFill>
          <a:ln>
            <a:noFill/>
          </a:ln>
        </p:spPr>
        <p:txBody>
          <a:bodyPr anchorCtr="0" anchor="ctr" lIns="91440" rIns="91440" tIns="0" bIns="0" wrap="square">
            <a:noAutofit/>
          </a:bodyPr>
          <a:lstStyle/>
          <a:p>
            <a:pPr algn="l">
              <a:buNone/>
            </a:pPr>
            <a:r>
              <a:rPr b="1" lang="en-GB" sz="2000">
                <a:solidFill>
                  <a:schemeClr val="lt1"/>
                </a:solidFill>
              </a:rPr>
              <a:t>7 DSA Techniques → 1 Dispatch System</a:t>
            </a:r>
            <a:endParaRPr b="1" sz="2000">
              <a:solidFill>
                <a:schemeClr val="lt1"/>
              </a:solidFill>
            </a:endParaRPr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Working (Method)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200" name="Header200"/>
          <p:cNvSpPr txBox="1"/>
          <p:nvPr/>
        </p:nvSpPr>
        <p:spPr>
          <a:xfrm>
            <a:off x="311700" y="1050000"/>
            <a:ext cx="85206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lIns="0" rIns="0" tIns="0" b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A81B50"/>
                </a:solidFill>
              </a:rPr>
              <a:t>Architecture</a:t>
            </a:r>
            <a:endParaRPr b="1" sz="1300"/>
          </a:p>
        </p:txBody>
      </p:sp>
      <p:sp>
        <p:nvSpPr>
          <p:cNvPr id="201" name="Box201"/>
          <p:cNvSpPr/>
          <p:nvPr/>
        </p:nvSpPr>
        <p:spPr>
          <a:xfrm>
            <a:off x="311700" y="1450000"/>
            <a:ext cx="1905150" cy="7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81B50"/>
            </a:solidFill>
          </a:ln>
        </p:spPr>
        <p:txBody>
          <a:bodyPr anchorCtr="0" anchor="ctr" lIns="45720" rIns="45720" tIns="22860" bIns="22860" wrap="square">
            <a:noAutofit/>
          </a:bodyPr>
          <a:lstStyle/>
          <a:p>
            <a:pPr algn="ctr">
              <a:buNone/>
            </a:pPr>
            <a:r>
              <a:rPr b="1" lang="en-GB" sz="1050">
                <a:solidFill>
                  <a:srgbClr val="A81B50"/>
                </a:solidFill>
              </a:rPr>
              <a:t>CLI Menu</a:t>
            </a:r>
            <a:endParaRPr b="1" sz="1050">
              <a:solidFill>
                <a:srgbClr val="A81B50"/>
              </a:solidFill>
            </a:endParaRPr>
          </a:p>
        </p:txBody>
      </p:sp>
      <p:sp>
        <p:nvSpPr>
          <p:cNvPr id="202" name="Arrow202"/>
          <p:cNvSpPr/>
          <p:nvPr/>
        </p:nvSpPr>
        <p:spPr>
          <a:xfrm>
            <a:off x="2216850" y="1735000"/>
            <a:ext cx="300000" cy="180000"/>
          </a:xfrm>
          <a:prstGeom prst="rightArrow">
            <a:avLst/>
          </a:prstGeom>
          <a:solidFill>
            <a:srgbClr val="A81B50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203" name="Box203"/>
          <p:cNvSpPr/>
          <p:nvPr/>
        </p:nvSpPr>
        <p:spPr>
          <a:xfrm>
            <a:off x="2516850" y="1450000"/>
            <a:ext cx="1905150" cy="7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81B50"/>
            </a:solidFill>
          </a:ln>
        </p:spPr>
        <p:txBody>
          <a:bodyPr anchorCtr="0" anchor="ctr" lIns="45720" rIns="45720" tIns="22860" bIns="22860" wrap="square">
            <a:noAutofit/>
          </a:bodyPr>
          <a:lstStyle/>
          <a:p>
            <a:pPr algn="ctr">
              <a:buNone/>
            </a:pPr>
            <a:r>
              <a:rPr b="1" lang="en-GB" sz="1050">
                <a:solidFill>
                  <a:srgbClr val="A81B50"/>
                </a:solidFill>
              </a:rPr>
              <a:t>Main Controller</a:t>
            </a:r>
            <a:endParaRPr b="1" sz="1050">
              <a:solidFill>
                <a:srgbClr val="A81B50"/>
              </a:solidFill>
            </a:endParaRPr>
          </a:p>
        </p:txBody>
      </p:sp>
      <p:sp>
        <p:nvSpPr>
          <p:cNvPr id="204" name="Arrow204"/>
          <p:cNvSpPr/>
          <p:nvPr/>
        </p:nvSpPr>
        <p:spPr>
          <a:xfrm>
            <a:off x="4422000" y="1735000"/>
            <a:ext cx="300000" cy="180000"/>
          </a:xfrm>
          <a:prstGeom prst="rightArrow">
            <a:avLst/>
          </a:prstGeom>
          <a:solidFill>
            <a:srgbClr val="A81B50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205" name="Box205"/>
          <p:cNvSpPr/>
          <p:nvPr/>
        </p:nvSpPr>
        <p:spPr>
          <a:xfrm>
            <a:off x="4722000" y="1450000"/>
            <a:ext cx="1905150" cy="7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81B50"/>
            </a:solidFill>
          </a:ln>
        </p:spPr>
        <p:txBody>
          <a:bodyPr anchorCtr="0" anchor="ctr" lIns="45720" rIns="45720" tIns="22860" bIns="22860" wrap="square">
            <a:noAutofit/>
          </a:bodyPr>
          <a:lstStyle/>
          <a:p>
            <a:pPr algn="ctr">
              <a:buNone/>
            </a:pPr>
            <a:r>
              <a:rPr b="1" lang="en-GB" sz="1050">
                <a:solidFill>
                  <a:srgbClr val="A81B50"/>
                </a:solidFill>
              </a:rPr>
              <a:t>Graph + Fleet Manager</a:t>
            </a:r>
            <a:endParaRPr b="1" sz="1050">
              <a:solidFill>
                <a:srgbClr val="A81B50"/>
              </a:solidFill>
            </a:endParaRPr>
          </a:p>
        </p:txBody>
      </p:sp>
      <p:sp>
        <p:nvSpPr>
          <p:cNvPr id="206" name="Arrow206"/>
          <p:cNvSpPr/>
          <p:nvPr/>
        </p:nvSpPr>
        <p:spPr>
          <a:xfrm>
            <a:off x="6627150" y="1735000"/>
            <a:ext cx="300000" cy="180000"/>
          </a:xfrm>
          <a:prstGeom prst="rightArrow">
            <a:avLst/>
          </a:prstGeom>
          <a:solidFill>
            <a:srgbClr val="A81B50"/>
          </a:solidFill>
          <a:ln>
            <a:noFill/>
          </a:ln>
        </p:spPr>
        <p:txBody>
          <a:bodyPr/>
          <a:lstStyle/>
          <a:p>
            <a:pPr>
              <a:buNone/>
            </a:pPr>
          </a:p>
        </p:txBody>
      </p:sp>
      <p:sp>
        <p:nvSpPr>
          <p:cNvPr id="207" name="Box207"/>
          <p:cNvSpPr/>
          <p:nvPr/>
        </p:nvSpPr>
        <p:spPr>
          <a:xfrm>
            <a:off x="6927150" y="1450000"/>
            <a:ext cx="1905150" cy="7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81B50"/>
            </a:solidFill>
          </a:ln>
        </p:spPr>
        <p:txBody>
          <a:bodyPr anchorCtr="0" anchor="ctr" lIns="45720" rIns="45720" tIns="22860" bIns="22860" wrap="square">
            <a:noAutofit/>
          </a:bodyPr>
          <a:lstStyle/>
          <a:p>
            <a:pPr algn="ctr">
              <a:buNone/>
            </a:pPr>
            <a:r>
              <a:rPr b="1" lang="en-GB" sz="1050">
                <a:solidFill>
                  <a:srgbClr val="A81B50"/>
                </a:solidFill>
              </a:rPr>
              <a:t>File I/O (cities.txt, data.txt)</a:t>
            </a:r>
            <a:endParaRPr b="1" sz="1050">
              <a:solidFill>
                <a:srgbClr val="A81B50"/>
              </a:solidFill>
            </a:endParaRPr>
          </a:p>
        </p:txBody>
      </p:sp>
      <p:sp>
        <p:nvSpPr>
          <p:cNvPr id="208" name="Header208"/>
          <p:cNvSpPr txBox="1"/>
          <p:nvPr/>
        </p:nvSpPr>
        <p:spPr>
          <a:xfrm>
            <a:off x="311700" y="2400000"/>
            <a:ext cx="85206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lIns="0" rIns="0" tIns="0" b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A81B50"/>
                </a:solidFill>
              </a:rPr>
              <a:t>Trip Dispatch Flow</a:t>
            </a:r>
            <a:endParaRPr b="1" sz="1300"/>
          </a:p>
        </p:txBody>
      </p:sp>
      <p:sp>
        <p:nvSpPr>
          <p:cNvPr id="209" name="Icon209"/>
          <p:cNvSpPr/>
          <p:nvPr/>
        </p:nvSpPr>
        <p:spPr>
          <a:xfrm>
            <a:off x="755083" y="2800000"/>
            <a:ext cx="450000" cy="450000"/>
          </a:xfrm>
          <a:prstGeom prst="ellipse">
            <a:avLst/>
          </a:prstGeom>
          <a:solidFill>
            <a:srgbClr val="A81B50"/>
          </a:solidFill>
          <a:ln>
            <a:noFill/>
          </a:ln>
        </p:spPr>
        <p:txBody>
          <a:bodyPr anchorCtr="1" anchor="ctr" lIns="0" rIns="0" tIns="0" bIns="0" wrap="square">
            <a:noAutofit/>
          </a:bodyPr>
          <a:lstStyle/>
          <a:p>
            <a:pPr algn="ctr">
              <a:buNone/>
            </a:pPr>
            <a:r>
              <a:rPr b="1" lang="en-GB" sz="1600">
                <a:solidFill>
                  <a:srgbClr val="FFFFFF"/>
                </a:solidFill>
              </a:rPr>
              <a:t>1</a:t>
            </a:r>
            <a:endParaRPr b="1" sz="1600">
              <a:solidFill>
                <a:srgbClr val="FFFFFF"/>
              </a:solidFill>
            </a:endParaRPr>
          </a:p>
        </p:txBody>
      </p:sp>
      <p:sp>
        <p:nvSpPr>
          <p:cNvPr id="210" name="StepLabel210"/>
          <p:cNvSpPr txBox="1"/>
          <p:nvPr/>
        </p:nvSpPr>
        <p:spPr>
          <a:xfrm>
            <a:off x="311700" y="3350000"/>
            <a:ext cx="1336766" cy="1600000"/>
          </a:xfrm>
          <a:prstGeom prst="rect">
            <a:avLst/>
          </a:prstGeom>
          <a:noFill/>
          <a:ln>
            <a:noFill/>
          </a:ln>
        </p:spPr>
        <p:txBody>
          <a:bodyPr anchorCtr="0" anchor="t" lIns="0" rIns="0" tIns="0" bIns="0" wrap="square">
            <a:noAutofit/>
          </a:bodyPr>
          <a:lstStyle/>
          <a:p>
            <a:pPr algn="ctr">
              <a:buNone/>
            </a:pPr>
            <a:r>
              <a:rPr lang="en-GB" sz="900"/>
              <a:t>Pop highest-priority trip</a:t>
            </a:r>
            <a:endParaRPr sz="900"/>
          </a:p>
        </p:txBody>
      </p:sp>
      <p:sp>
        <p:nvSpPr>
          <p:cNvPr id="211" name="Icon211"/>
          <p:cNvSpPr/>
          <p:nvPr/>
        </p:nvSpPr>
        <p:spPr>
          <a:xfrm>
            <a:off x="2191849" y="2800000"/>
            <a:ext cx="450000" cy="450000"/>
          </a:xfrm>
          <a:prstGeom prst="ellipse">
            <a:avLst/>
          </a:prstGeom>
          <a:solidFill>
            <a:srgbClr val="A81B50"/>
          </a:solidFill>
          <a:ln>
            <a:noFill/>
          </a:ln>
        </p:spPr>
        <p:txBody>
          <a:bodyPr anchorCtr="1" anchor="ctr" lIns="0" rIns="0" tIns="0" bIns="0" wrap="square">
            <a:noAutofit/>
          </a:bodyPr>
          <a:lstStyle/>
          <a:p>
            <a:pPr algn="ctr">
              <a:buNone/>
            </a:pPr>
            <a:r>
              <a:rPr b="1" lang="en-GB" sz="1600">
                <a:solidFill>
                  <a:srgbClr val="FFFFFF"/>
                </a:solidFill>
              </a:rPr>
              <a:t>2</a:t>
            </a:r>
            <a:endParaRPr b="1" sz="1600">
              <a:solidFill>
                <a:srgbClr val="FFFFFF"/>
              </a:solidFill>
            </a:endParaRPr>
          </a:p>
        </p:txBody>
      </p:sp>
      <p:sp>
        <p:nvSpPr>
          <p:cNvPr id="212" name="StepLabel212"/>
          <p:cNvSpPr txBox="1"/>
          <p:nvPr/>
        </p:nvSpPr>
        <p:spPr>
          <a:xfrm>
            <a:off x="1748466" y="3350000"/>
            <a:ext cx="1336766" cy="1600000"/>
          </a:xfrm>
          <a:prstGeom prst="rect">
            <a:avLst/>
          </a:prstGeom>
          <a:noFill/>
          <a:ln>
            <a:noFill/>
          </a:ln>
        </p:spPr>
        <p:txBody>
          <a:bodyPr anchorCtr="0" anchor="t" lIns="0" rIns="0" tIns="0" bIns="0" wrap="square">
            <a:noAutofit/>
          </a:bodyPr>
          <a:lstStyle/>
          <a:p>
            <a:pPr algn="ctr">
              <a:buNone/>
            </a:pPr>
            <a:r>
              <a:rPr lang="en-GB" sz="900"/>
              <a:t>Run Dijkstra from pickup city</a:t>
            </a:r>
            <a:endParaRPr sz="900"/>
          </a:p>
        </p:txBody>
      </p:sp>
      <p:sp>
        <p:nvSpPr>
          <p:cNvPr id="213" name="Icon213"/>
          <p:cNvSpPr/>
          <p:nvPr/>
        </p:nvSpPr>
        <p:spPr>
          <a:xfrm>
            <a:off x="3628615" y="2800000"/>
            <a:ext cx="450000" cy="450000"/>
          </a:xfrm>
          <a:prstGeom prst="ellipse">
            <a:avLst/>
          </a:prstGeom>
          <a:solidFill>
            <a:srgbClr val="A81B50"/>
          </a:solidFill>
          <a:ln>
            <a:noFill/>
          </a:ln>
        </p:spPr>
        <p:txBody>
          <a:bodyPr anchorCtr="1" anchor="ctr" lIns="0" rIns="0" tIns="0" bIns="0" wrap="square">
            <a:noAutofit/>
          </a:bodyPr>
          <a:lstStyle/>
          <a:p>
            <a:pPr algn="ctr">
              <a:buNone/>
            </a:pPr>
            <a:r>
              <a:rPr b="1" lang="en-GB" sz="1600">
                <a:solidFill>
                  <a:srgbClr val="FFFFFF"/>
                </a:solidFill>
              </a:rPr>
              <a:t>3</a:t>
            </a:r>
            <a:endParaRPr b="1" sz="1600">
              <a:solidFill>
                <a:srgbClr val="FFFFFF"/>
              </a:solidFill>
            </a:endParaRPr>
          </a:p>
        </p:txBody>
      </p:sp>
      <p:sp>
        <p:nvSpPr>
          <p:cNvPr id="214" name="StepLabel214"/>
          <p:cNvSpPr txBox="1"/>
          <p:nvPr/>
        </p:nvSpPr>
        <p:spPr>
          <a:xfrm>
            <a:off x="3185232" y="3350000"/>
            <a:ext cx="1336766" cy="1600000"/>
          </a:xfrm>
          <a:prstGeom prst="rect">
            <a:avLst/>
          </a:prstGeom>
          <a:noFill/>
          <a:ln>
            <a:noFill/>
          </a:ln>
        </p:spPr>
        <p:txBody>
          <a:bodyPr anchorCtr="0" anchor="t" lIns="0" rIns="0" tIns="0" bIns="0" wrap="square">
            <a:noAutofit/>
          </a:bodyPr>
          <a:lstStyle/>
          <a:p>
            <a:pPr algn="ctr">
              <a:buNone/>
            </a:pPr>
            <a:r>
              <a:rPr lang="en-GB" sz="900"/>
              <a:t>Select nearest vehicle</a:t>
            </a:r>
            <a:endParaRPr sz="900"/>
          </a:p>
        </p:txBody>
      </p:sp>
      <p:sp>
        <p:nvSpPr>
          <p:cNvPr id="215" name="Icon215"/>
          <p:cNvSpPr/>
          <p:nvPr/>
        </p:nvSpPr>
        <p:spPr>
          <a:xfrm>
            <a:off x="5065381" y="2800000"/>
            <a:ext cx="450000" cy="450000"/>
          </a:xfrm>
          <a:prstGeom prst="ellipse">
            <a:avLst/>
          </a:prstGeom>
          <a:solidFill>
            <a:srgbClr val="A81B50"/>
          </a:solidFill>
          <a:ln>
            <a:noFill/>
          </a:ln>
        </p:spPr>
        <p:txBody>
          <a:bodyPr anchorCtr="1" anchor="ctr" lIns="0" rIns="0" tIns="0" bIns="0" wrap="square">
            <a:noAutofit/>
          </a:bodyPr>
          <a:lstStyle/>
          <a:p>
            <a:pPr algn="ctr">
              <a:buNone/>
            </a:pPr>
            <a:r>
              <a:rPr b="1" lang="en-GB" sz="1600">
                <a:solidFill>
                  <a:srgbClr val="FFFFFF"/>
                </a:solidFill>
              </a:rPr>
              <a:t>4</a:t>
            </a:r>
            <a:endParaRPr b="1" sz="1600">
              <a:solidFill>
                <a:srgbClr val="FFFFFF"/>
              </a:solidFill>
            </a:endParaRPr>
          </a:p>
        </p:txBody>
      </p:sp>
      <p:sp>
        <p:nvSpPr>
          <p:cNvPr id="216" name="StepLabel216"/>
          <p:cNvSpPr txBox="1"/>
          <p:nvPr/>
        </p:nvSpPr>
        <p:spPr>
          <a:xfrm>
            <a:off x="4621998" y="3350000"/>
            <a:ext cx="1336766" cy="1600000"/>
          </a:xfrm>
          <a:prstGeom prst="rect">
            <a:avLst/>
          </a:prstGeom>
          <a:noFill/>
          <a:ln>
            <a:noFill/>
          </a:ln>
        </p:spPr>
        <p:txBody>
          <a:bodyPr anchorCtr="0" anchor="t" lIns="0" rIns="0" tIns="0" bIns="0" wrap="square">
            <a:noAutofit/>
          </a:bodyPr>
          <a:lstStyle/>
          <a:p>
            <a:pPr algn="ctr">
              <a:buNone/>
            </a:pPr>
            <a:r>
              <a:rPr lang="en-GB" sz="900"/>
              <a:t>Push VehicleSnapshot to stack</a:t>
            </a:r>
            <a:endParaRPr sz="900"/>
          </a:p>
        </p:txBody>
      </p:sp>
      <p:sp>
        <p:nvSpPr>
          <p:cNvPr id="217" name="Icon217"/>
          <p:cNvSpPr/>
          <p:nvPr/>
        </p:nvSpPr>
        <p:spPr>
          <a:xfrm>
            <a:off x="6502147" y="2800000"/>
            <a:ext cx="450000" cy="450000"/>
          </a:xfrm>
          <a:prstGeom prst="ellipse">
            <a:avLst/>
          </a:prstGeom>
          <a:solidFill>
            <a:srgbClr val="A81B50"/>
          </a:solidFill>
          <a:ln>
            <a:noFill/>
          </a:ln>
        </p:spPr>
        <p:txBody>
          <a:bodyPr anchorCtr="1" anchor="ctr" lIns="0" rIns="0" tIns="0" bIns="0" wrap="square">
            <a:noAutofit/>
          </a:bodyPr>
          <a:lstStyle/>
          <a:p>
            <a:pPr algn="ctr">
              <a:buNone/>
            </a:pPr>
            <a:r>
              <a:rPr b="1" lang="en-GB" sz="1600">
                <a:solidFill>
                  <a:srgbClr val="FFFFFF"/>
                </a:solidFill>
              </a:rPr>
              <a:t>5</a:t>
            </a:r>
            <a:endParaRPr b="1" sz="1600">
              <a:solidFill>
                <a:srgbClr val="FFFFFF"/>
              </a:solidFill>
            </a:endParaRPr>
          </a:p>
        </p:txBody>
      </p:sp>
      <p:sp>
        <p:nvSpPr>
          <p:cNvPr id="218" name="StepLabel218"/>
          <p:cNvSpPr txBox="1"/>
          <p:nvPr/>
        </p:nvSpPr>
        <p:spPr>
          <a:xfrm>
            <a:off x="6058764" y="3350000"/>
            <a:ext cx="1336766" cy="1600000"/>
          </a:xfrm>
          <a:prstGeom prst="rect">
            <a:avLst/>
          </a:prstGeom>
          <a:noFill/>
          <a:ln>
            <a:noFill/>
          </a:ln>
        </p:spPr>
        <p:txBody>
          <a:bodyPr anchorCtr="0" anchor="t" lIns="0" rIns="0" tIns="0" bIns="0" wrap="square">
            <a:noAutofit/>
          </a:bodyPr>
          <a:lstStyle/>
          <a:p>
            <a:pPr algn="ctr">
              <a:buNone/>
            </a:pPr>
            <a:r>
              <a:rPr lang="en-GB" sz="900"/>
              <a:t>Update vehicle state</a:t>
            </a:r>
            <a:endParaRPr sz="900"/>
          </a:p>
        </p:txBody>
      </p:sp>
      <p:sp>
        <p:nvSpPr>
          <p:cNvPr id="219" name="Icon219"/>
          <p:cNvSpPr/>
          <p:nvPr/>
        </p:nvSpPr>
        <p:spPr>
          <a:xfrm>
            <a:off x="7938913" y="2800000"/>
            <a:ext cx="450000" cy="450000"/>
          </a:xfrm>
          <a:prstGeom prst="ellipse">
            <a:avLst/>
          </a:prstGeom>
          <a:solidFill>
            <a:srgbClr val="A81B50"/>
          </a:solidFill>
          <a:ln>
            <a:noFill/>
          </a:ln>
        </p:spPr>
        <p:txBody>
          <a:bodyPr anchorCtr="1" anchor="ctr" lIns="0" rIns="0" tIns="0" bIns="0" wrap="square">
            <a:noAutofit/>
          </a:bodyPr>
          <a:lstStyle/>
          <a:p>
            <a:pPr algn="ctr">
              <a:buNone/>
            </a:pPr>
            <a:r>
              <a:rPr b="1" lang="en-GB" sz="1600">
                <a:solidFill>
                  <a:srgbClr val="FFFFFF"/>
                </a:solidFill>
              </a:rPr>
              <a:t>6</a:t>
            </a:r>
            <a:endParaRPr b="1" sz="1600">
              <a:solidFill>
                <a:srgbClr val="FFFFFF"/>
              </a:solidFill>
            </a:endParaRPr>
          </a:p>
        </p:txBody>
      </p:sp>
      <p:sp>
        <p:nvSpPr>
          <p:cNvPr id="220" name="StepLabel220"/>
          <p:cNvSpPr txBox="1"/>
          <p:nvPr/>
        </p:nvSpPr>
        <p:spPr>
          <a:xfrm>
            <a:off x="7495530" y="3350000"/>
            <a:ext cx="1336766" cy="1600000"/>
          </a:xfrm>
          <a:prstGeom prst="rect">
            <a:avLst/>
          </a:prstGeom>
          <a:noFill/>
          <a:ln>
            <a:noFill/>
          </a:ln>
        </p:spPr>
        <p:txBody>
          <a:bodyPr anchorCtr="0" anchor="t" lIns="0" rIns="0" tIns="0" bIns="0" wrap="square">
            <a:noAutofit/>
          </a:bodyPr>
          <a:lstStyle/>
          <a:p>
            <a:pPr algn="ctr">
              <a:buNone/>
            </a:pPr>
            <a:r>
              <a:rPr lang="en-GB" sz="900"/>
              <a:t>Save results to data.txt</a:t>
            </a:r>
            <a:endParaRPr sz="900"/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Conclusion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300" name="Intro"/>
          <p:cNvSpPr txBox="1"/>
          <p:nvPr/>
        </p:nvSpPr>
        <p:spPr>
          <a:xfrm>
            <a:off x="311700" y="1060000"/>
            <a:ext cx="85206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lIns="0" rIns="0" tIns="0" bIns="0" wrap="square">
            <a:noAutofit/>
          </a:bodyPr>
          <a:lstStyle/>
          <a:p>
            <a:pPr algn="l">
              <a:buNone/>
            </a:pPr>
            <a:r>
              <a:rPr lang="en-GB" sz="1200"/>
              <a:t>FleetRoute demonstrates how classical DSA concepts translate directly into a practical, real-world system. Every component maps to a course topic:</a:t>
            </a:r>
            <a:endParaRPr sz="1200"/>
          </a:p>
        </p:txBody>
      </p:sp>
      <p:sp>
        <p:nvSpPr>
          <p:cNvPr id="301" name="Icon301"/>
          <p:cNvSpPr/>
          <p:nvPr/>
        </p:nvSpPr>
        <p:spPr>
          <a:xfrm>
            <a:off x="311700" y="2033000"/>
            <a:ext cx="450000" cy="450000"/>
          </a:xfrm>
          <a:prstGeom prst="ellipse">
            <a:avLst/>
          </a:prstGeom>
          <a:solidFill>
            <a:srgbClr val="A81B50"/>
          </a:solidFill>
          <a:ln>
            <a:noFill/>
          </a:ln>
        </p:spPr>
        <p:txBody>
          <a:bodyPr anchorCtr="1" anchor="ctr" lIns="0" rIns="0" tIns="0" bIns="0" wrap="square">
            <a:noAutofit/>
          </a:bodyPr>
          <a:lstStyle/>
          <a:p>
            <a:pPr algn="ctr">
              <a:buNone/>
            </a:pPr>
            <a:r>
              <a:rPr b="1" lang="en-GB" sz="1400">
                <a:solidFill>
                  <a:srgbClr val="FFFFFF"/>
                </a:solidFill>
              </a:rPr>
              <a:t>R</a:t>
            </a:r>
            <a:endParaRPr b="1" sz="1400">
              <a:solidFill>
                <a:srgbClr val="FFFFFF"/>
              </a:solidFill>
            </a:endParaRPr>
          </a:p>
        </p:txBody>
      </p:sp>
      <p:sp>
        <p:nvSpPr>
          <p:cNvPr id="302" name="Text302"/>
          <p:cNvSpPr txBox="1"/>
          <p:nvPr/>
        </p:nvSpPr>
        <p:spPr>
          <a:xfrm>
            <a:off x="891700" y="1750000"/>
            <a:ext cx="35803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lIns="0" rIns="0" tIns="0" b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>
                <a:solidFill>
                  <a:srgbClr val="A81B50"/>
                </a:solidFill>
              </a:rPr>
              <a:t>Graphs + Dijkstra</a:t>
            </a:r>
            <a:endParaRPr b="1" sz="1150"/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000"/>
              <a:t>Route optimisation</a:t>
            </a:r>
            <a:endParaRPr sz="1000"/>
          </a:p>
        </p:txBody>
      </p:sp>
      <p:sp>
        <p:nvSpPr>
          <p:cNvPr id="303" name="Icon303"/>
          <p:cNvSpPr/>
          <p:nvPr/>
        </p:nvSpPr>
        <p:spPr>
          <a:xfrm>
            <a:off x="4672000" y="2033000"/>
            <a:ext cx="450000" cy="450000"/>
          </a:xfrm>
          <a:prstGeom prst="ellipse">
            <a:avLst/>
          </a:prstGeom>
          <a:solidFill>
            <a:srgbClr val="A81B50"/>
          </a:solidFill>
          <a:ln>
            <a:noFill/>
          </a:ln>
        </p:spPr>
        <p:txBody>
          <a:bodyPr anchorCtr="1" anchor="ctr" lIns="0" rIns="0" tIns="0" bIns="0" wrap="square">
            <a:noAutofit/>
          </a:bodyPr>
          <a:lstStyle/>
          <a:p>
            <a:pPr algn="ctr">
              <a:buNone/>
            </a:pPr>
            <a:r>
              <a:rPr b="1" lang="en-GB" sz="1400">
                <a:solidFill>
                  <a:srgbClr val="FFFFFF"/>
                </a:solidFill>
              </a:rPr>
              <a:t>Q</a:t>
            </a:r>
            <a:endParaRPr b="1" sz="1400">
              <a:solidFill>
                <a:srgbClr val="FFFFFF"/>
              </a:solidFill>
            </a:endParaRPr>
          </a:p>
        </p:txBody>
      </p:sp>
      <p:sp>
        <p:nvSpPr>
          <p:cNvPr id="304" name="Text304"/>
          <p:cNvSpPr txBox="1"/>
          <p:nvPr/>
        </p:nvSpPr>
        <p:spPr>
          <a:xfrm>
            <a:off x="5252000" y="1750000"/>
            <a:ext cx="35803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lIns="0" rIns="0" tIns="0" b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>
                <a:solidFill>
                  <a:srgbClr val="A81B50"/>
                </a:solidFill>
              </a:rPr>
              <a:t>Priority Queue</a:t>
            </a:r>
            <a:endParaRPr b="1" sz="1150"/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000"/>
              <a:t>Trip scheduling</a:t>
            </a:r>
            <a:endParaRPr sz="1000"/>
          </a:p>
        </p:txBody>
      </p:sp>
      <p:sp>
        <p:nvSpPr>
          <p:cNvPr id="305" name="Icon305"/>
          <p:cNvSpPr/>
          <p:nvPr/>
        </p:nvSpPr>
        <p:spPr>
          <a:xfrm>
            <a:off x="311700" y="3149000"/>
            <a:ext cx="450000" cy="450000"/>
          </a:xfrm>
          <a:prstGeom prst="ellipse">
            <a:avLst/>
          </a:prstGeom>
          <a:solidFill>
            <a:srgbClr val="A81B50"/>
          </a:solidFill>
          <a:ln>
            <a:noFill/>
          </a:ln>
        </p:spPr>
        <p:txBody>
          <a:bodyPr anchorCtr="1" anchor="ctr" lIns="0" rIns="0" tIns="0" bIns="0" wrap="square">
            <a:noAutofit/>
          </a:bodyPr>
          <a:lstStyle/>
          <a:p>
            <a:pPr algn="ctr">
              <a:buNone/>
            </a:pPr>
            <a:r>
              <a:rPr b="1" lang="en-GB" sz="1400">
                <a:solidFill>
                  <a:srgbClr val="FFFFFF"/>
                </a:solidFill>
              </a:rPr>
              <a:t>U</a:t>
            </a:r>
            <a:endParaRPr b="1" sz="1400">
              <a:solidFill>
                <a:srgbClr val="FFFFFF"/>
              </a:solidFill>
            </a:endParaRPr>
          </a:p>
        </p:txBody>
      </p:sp>
      <p:sp>
        <p:nvSpPr>
          <p:cNvPr id="306" name="Text306"/>
          <p:cNvSpPr txBox="1"/>
          <p:nvPr/>
        </p:nvSpPr>
        <p:spPr>
          <a:xfrm>
            <a:off x="891700" y="2866000"/>
            <a:ext cx="35803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lIns="0" rIns="0" tIns="0" b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>
                <a:solidFill>
                  <a:srgbClr val="A81B50"/>
                </a:solidFill>
              </a:rPr>
              <a:t>Stack</a:t>
            </a:r>
            <a:endParaRPr b="1" sz="1150"/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000"/>
              <a:t>Undo / rollback</a:t>
            </a:r>
            <a:endParaRPr sz="1000"/>
          </a:p>
        </p:txBody>
      </p:sp>
      <p:sp>
        <p:nvSpPr>
          <p:cNvPr id="307" name="Icon307"/>
          <p:cNvSpPr/>
          <p:nvPr/>
        </p:nvSpPr>
        <p:spPr>
          <a:xfrm>
            <a:off x="4672000" y="3149000"/>
            <a:ext cx="450000" cy="450000"/>
          </a:xfrm>
          <a:prstGeom prst="ellipse">
            <a:avLst/>
          </a:prstGeom>
          <a:solidFill>
            <a:srgbClr val="A81B50"/>
          </a:solidFill>
          <a:ln>
            <a:noFill/>
          </a:ln>
        </p:spPr>
        <p:txBody>
          <a:bodyPr anchorCtr="1" anchor="ctr" lIns="0" rIns="0" tIns="0" bIns="0" wrap="square">
            <a:noAutofit/>
          </a:bodyPr>
          <a:lstStyle/>
          <a:p>
            <a:pPr algn="ctr">
              <a:buNone/>
            </a:pPr>
            <a:r>
              <a:rPr b="1" lang="en-GB" sz="1400">
                <a:solidFill>
                  <a:srgbClr val="FFFFFF"/>
                </a:solidFill>
              </a:rPr>
              <a:t>#</a:t>
            </a:r>
            <a:endParaRPr b="1" sz="1400">
              <a:solidFill>
                <a:srgbClr val="FFFFFF"/>
              </a:solidFill>
            </a:endParaRPr>
          </a:p>
        </p:txBody>
      </p:sp>
      <p:sp>
        <p:nvSpPr>
          <p:cNvPr id="308" name="Text308"/>
          <p:cNvSpPr txBox="1"/>
          <p:nvPr/>
        </p:nvSpPr>
        <p:spPr>
          <a:xfrm>
            <a:off x="5252000" y="2866000"/>
            <a:ext cx="35803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lIns="0" rIns="0" tIns="0" b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>
                <a:solidFill>
                  <a:srgbClr val="A81B50"/>
                </a:solidFill>
              </a:rPr>
              <a:t>Hash Map</a:t>
            </a:r>
            <a:endParaRPr b="1" sz="1150"/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000"/>
              <a:t>Fleet management</a:t>
            </a:r>
            <a:endParaRPr sz="1000"/>
          </a:p>
        </p:txBody>
      </p:sp>
      <p:sp>
        <p:nvSpPr>
          <p:cNvPr id="309" name="Icon309"/>
          <p:cNvSpPr/>
          <p:nvPr/>
        </p:nvSpPr>
        <p:spPr>
          <a:xfrm>
            <a:off x="311700" y="4265000"/>
            <a:ext cx="450000" cy="450000"/>
          </a:xfrm>
          <a:prstGeom prst="ellipse">
            <a:avLst/>
          </a:prstGeom>
          <a:solidFill>
            <a:srgbClr val="A81B50"/>
          </a:solidFill>
          <a:ln>
            <a:noFill/>
          </a:ln>
        </p:spPr>
        <p:txBody>
          <a:bodyPr anchorCtr="1" anchor="ctr" lIns="0" rIns="0" tIns="0" bIns="0" wrap="square">
            <a:noAutofit/>
          </a:bodyPr>
          <a:lstStyle/>
          <a:p>
            <a:pPr algn="ctr">
              <a:buNone/>
            </a:pPr>
            <a:r>
              <a:rPr b="1" lang="en-GB" sz="1400">
                <a:solidFill>
                  <a:srgbClr val="FFFFFF"/>
                </a:solidFill>
              </a:rPr>
              <a:t>S</a:t>
            </a:r>
            <a:endParaRPr b="1" sz="1400">
              <a:solidFill>
                <a:srgbClr val="FFFFFF"/>
              </a:solidFill>
            </a:endParaRPr>
          </a:p>
        </p:txBody>
      </p:sp>
      <p:sp>
        <p:nvSpPr>
          <p:cNvPr id="310" name="Text310"/>
          <p:cNvSpPr txBox="1"/>
          <p:nvPr/>
        </p:nvSpPr>
        <p:spPr>
          <a:xfrm>
            <a:off x="891700" y="3982000"/>
            <a:ext cx="35803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lIns="0" rIns="0" tIns="0" bIns="0" wrap="square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>
                <a:solidFill>
                  <a:srgbClr val="A81B50"/>
                </a:solidFill>
              </a:rPr>
              <a:t>Sorting + Binary Search</a:t>
            </a:r>
            <a:endParaRPr b="1" sz="1150"/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000"/>
              <a:t>Vehicle lookup &amp; display</a:t>
            </a:r>
            <a:endParaRPr sz="1000"/>
          </a:p>
        </p:txBody>
      </p:sp>
      <p:sp>
        <p:nvSpPr>
          <p:cNvPr id="311" name="FutureScope"/>
          <p:cNvSpPr/>
          <p:nvPr/>
        </p:nvSpPr>
        <p:spPr>
          <a:xfrm>
            <a:off x="4672000" y="3982000"/>
            <a:ext cx="3142000" cy="1016000"/>
          </a:xfrm>
          <a:prstGeom prst="roundRect">
            <a:avLst>
              <a:gd name="adj" fmla="val 10000"/>
            </a:avLst>
          </a:prstGeom>
          <a:solidFill>
            <a:srgbClr val="A81B50"/>
          </a:solidFill>
          <a:ln>
            <a:noFill/>
          </a:ln>
        </p:spPr>
        <p:txBody>
          <a:bodyPr anchorCtr="0" anchor="ctr" lIns="91440" rIns="91440" tIns="45720" bIns="45720" wrap="square">
            <a:noAutofit/>
          </a:bodyPr>
          <a:lstStyle/>
          <a:p>
            <a:pPr algn="l">
              <a:buNone/>
            </a:pPr>
            <a:r>
              <a:rPr b="1" lang="en-GB" sz="1100">
                <a:solidFill>
                  <a:schemeClr val="lt1"/>
                </a:solidFill>
              </a:rPr>
              <a:t xml:space="preserve">Future Scope: </a:t>
            </a:r>
            <a:r>
              <a:rPr lang="en-GB" sz="1000">
                <a:solidFill>
                  <a:schemeClr val="lt1"/>
                </a:solidFill>
              </a:rPr>
              <a:t>Multi-stop routing, real-time traffic weights, GUI front-end</a:t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